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1828800" cy="548640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0" y="182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IREC 2026  |  Podium Session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Aeroelastic Stability Analysis of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Fins on a 30,000 ft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COTS Sounding Rocket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788920"/>
            <a:ext cx="68580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880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High-Fidelity Computational Methods: CLT  ·  Shell FEM  ·  Supersonic Piston Theory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429000"/>
            <a:ext cx="2651760" cy="1143000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207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2651760" cy="1143000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ITBA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80760" y="3429000"/>
            <a:ext cx="2651760" cy="1143000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30k ft COTS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Buenos Aires, Argentina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060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3533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 flutter is the critical aeroelastic failure mode for supersonic rockets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9933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993392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99339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0482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34086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Flight-hardware fin geometry, T700/epoxy laminate, and flight envelope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80944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8094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035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Framework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328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Lamination Theory · Shell FEM · Supersonic Piston Theory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96849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968496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96849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023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Solver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315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Eight-step MATLAB pipeline with ISA atmosphere and eigenvalue flutter solver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0058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005840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1060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35331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frequencies, flutter envelope, and SM=∞ across 246 supersonic points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1993392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993392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99339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20482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234086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wash-out: geometric sweep + material D₁₆ bending-torsion coupling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980944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980944"/>
            <a:ext cx="502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98094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03520" y="3035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328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validation and IREC 2026 flight test expectations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 Why Flutter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Aeroelastic instability is the critical structural risk in supersonic rocketry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flutter is a catastrophic aeroelastic instability in which aerodynamic forces couple with structural vibration modes to produce divergent, self-sustaining oscillations.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critical flutter speed, oscillation amplitudes grow exponentially — fin structural failure occurs within milliseconds.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30,000 ft COTS rocket, the fin must remain stable throughout the full supersonic phase (Mach 1.0 – 1.85) without any passive protection mechanism.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005840"/>
            <a:ext cx="35661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49240" y="1005840"/>
            <a:ext cx="5029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005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0" y="1069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Failure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35331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detachment destroys vehicle aerodynamic stability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1965960"/>
            <a:ext cx="35661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965960"/>
            <a:ext cx="5029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0" y="20299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Dependency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31343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increases nonlinearly above flutter onset Mach number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926080"/>
            <a:ext cx="356616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926080"/>
            <a:ext cx="5029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9260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0" y="2990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Imperative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27355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margin must be verified before any supersonic flight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977640"/>
            <a:ext cx="868680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776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207's approach: replace empirical rules of thumb with a full physics-based aeroelastic solver validated against composite laminate theory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System: Flight Hardware Fins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T700/epoxy trapezoidal composite fins — actual flight geometry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 Geometry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4114800" cy="429768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53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chord (cᵣ)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0360" y="1453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 mm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4114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38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chord (cₜ)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mm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359152"/>
            <a:ext cx="4114800" cy="429768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23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Semi-span (b)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2423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160 mm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843784"/>
            <a:ext cx="4114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07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sweep angle (Λ)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57.4°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328416"/>
            <a:ext cx="4114800" cy="429768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92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3392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6.0 mm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1051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 &amp; Laminate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389888"/>
            <a:ext cx="434340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06640" y="1426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T700/Epoxy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1755648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volume fraction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50.19%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2121408"/>
            <a:ext cx="434340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157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modulus E₁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117.2 GPa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2487168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23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E₂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5237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7.23 GPa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2852928"/>
            <a:ext cx="434340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889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modulus G₁₂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3.47 GPa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0" y="3218688"/>
            <a:ext cx="4343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55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count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3255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(symmetric)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0" y="3584448"/>
            <a:ext cx="4343400" cy="329184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36210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1580 kg/m³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" y="3977640"/>
            <a:ext cx="86868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977640"/>
            <a:ext cx="54864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977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layup: alternating DB300 NCF biaxial (±65°/∓25° from chord) and GA90R woven plies (20° from chord) — engineered for D₁₆ bending-torsion coupling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Framework: Three Coupled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feeds into the unified flutter eigenvalue solver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27432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12801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Lamination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 (CLT)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18745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ply-level fiber-matrix constants through 18 plies to yield the complete ABD bending stiffness matrix — including the critical D₁₆ bending-torsion coupling 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" y="4224528"/>
            <a:ext cx="2468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Jones 1999, Reddy 2004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10058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05840"/>
            <a:ext cx="274320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12801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Mindlin-Reissner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Shell FEM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8745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quadrilateral shell elements with selective reduced integration (2×2 membrane/bending, 1×1 shear) over a 24×12 mesh — extracts natural frequencies and mode shapes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4224528"/>
            <a:ext cx="2468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Bathe 1996, Hughes 2000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100584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005840"/>
            <a:ext cx="2743200" cy="7498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2801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 Piston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81928" y="187452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Lighthill (1953) / Ashley-Zartarian (1956): local pressure proportional to local normal surface velocity, corrected for Prandtl-Glauert compressibility; GAF matrix by quadrature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81928" y="4224528"/>
            <a:ext cx="24688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Lighthill 1953, Ashley &amp; Zartarian 1956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44368" y="2834640"/>
            <a:ext cx="2103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6168" y="2834640"/>
            <a:ext cx="210312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Lamination Theory: Bending Stiffness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18-ply symmetric T700/epoxy laminate — aeroelastic tailoring via D₁₆ coupling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CLT Analysis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17320"/>
            <a:ext cx="411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4173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481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reduced stiffness Q̄ᵢⱼ for each ply using fiber-matrix rule of mixtures (E₁=117.2 GPa, E₂=7.23 GPa, G₁₂=3.47 GPa, ν₁₂=0.275)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94560"/>
            <a:ext cx="411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1945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258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Q̄ᵢⱼ through ply orientation angles (±65°/∓25° biaxial, 20° woven) into the laminate coordinate frame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71800"/>
            <a:ext cx="411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718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0358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through thickness zₖ boundaries of all 18 plies to form the 6×6 ABD stiffness matrix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374904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49040"/>
            <a:ext cx="411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490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38130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 sub-matrix: governs bending response — D₁₆ term encodes bending-torsion coupling for aeroelastic tailoring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Computed Bending Stiffness D [N·m]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14173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4173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14173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822.0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55080" y="14173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4173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14173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4173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264.3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35240" y="14173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4173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92440" y="1417320"/>
            <a:ext cx="822960" cy="621792"/>
          </a:xfrm>
          <a:prstGeom prst="rect">
            <a:avLst/>
          </a:prstGeom>
          <a:solidFill>
            <a:srgbClr val="02C39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14173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16.35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74920" y="21031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1031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21031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21031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264.3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55080" y="21031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1031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D₂₂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12280" y="21031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21031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869.0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635240" y="21031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21031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D₂₆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92440" y="21031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21031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11.65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74920" y="27889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27889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D₁₆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32120" y="2788920"/>
            <a:ext cx="822960" cy="621792"/>
          </a:xfrm>
          <a:prstGeom prst="rect">
            <a:avLst/>
          </a:prstGeom>
          <a:solidFill>
            <a:srgbClr val="02C39A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2788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16.35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355080" y="27889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7889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D₂₆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12280" y="27889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2788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11.65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635240" y="2788920"/>
            <a:ext cx="45720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78892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D₆₆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92440" y="278892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92440" y="2788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289.8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074920" y="3566160"/>
            <a:ext cx="3840480" cy="74980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74920" y="356616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0" y="3566160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D₁₆ = 16.35 N·m — bending-torsion coupling coefficient engineered into the layup. This is the primary aeroelastic tailoring parameter.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Mindlin-Reissner Shell Finite Element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24×12 mesh with selective reduced integration — extracts structural dynamics of clamped fin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FEM Configuration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35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435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Mindlin-Reissner shell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78308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18288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× 12 elements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176272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per node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2219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(u, v, w, θₓ, θᵧ, θᵤ)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569464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615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~1,950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962656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08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008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root nodes fully clamped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355848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401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integration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1×1 Gauss (anti-locking)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749040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Membrane/bend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06040" y="3794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2×2 Gauss quadrature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4142232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matrix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Lumped from areal density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4535424"/>
            <a:ext cx="4206240" cy="34747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stiffness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06040" y="4581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 = 1×10⁻³ · Eₑff · t · 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10515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Analysis Results (6 Structural Modes)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38988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389888"/>
            <a:ext cx="347472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38988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02352" y="1444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23760" y="14447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174.62 Hz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198424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984248"/>
            <a:ext cx="3474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198424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02352" y="20391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bending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20391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437.72 Hz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663440" y="257860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578608"/>
            <a:ext cx="3474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57860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02352" y="2633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torsion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23760" y="263347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986.29 Hz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663440" y="317296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3172968"/>
            <a:ext cx="3474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17296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02352" y="3227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bend-torsion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223760" y="32278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1,075.10 Hz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663440" y="376732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3767328"/>
            <a:ext cx="3474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76732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02352" y="3822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bending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223760" y="38221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1,664.02 Hz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663440" y="4361688"/>
            <a:ext cx="4251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4361688"/>
            <a:ext cx="347472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4361688"/>
            <a:ext cx="347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102352" y="4416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coupled mode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23760" y="44165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2,051.10 Hz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663440" y="484632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(174.62 Hz) is critical — lowest frequency mode most susceptible to aerodynamic coupling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 Aerodynamics &amp; Flutter 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theory + quasi-steady eigenvalue flutter criterion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051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Supersonic Piston Theory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4206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463040"/>
            <a:ext cx="393192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pressure at each surface point: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(2q∞ / β) · (∂w/∂x + ikw̄/b_ref)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√(M² - 1)  — Prandtl-Glauert factor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ωb/V  — reduced frequency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q∞ = ½ρV²  — flight dynamic pressure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 matrix Q(k) computed by quadrature over FE mesh at k = [0, 0.01, 0.05, 0.1, 0.2, 0.5, 1.0]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symmetrisation removes numerical skew.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0515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Quasi-Steady Flutter Solver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8988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89888"/>
            <a:ext cx="3657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898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48132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aeroelastic stiffness K_ae(q) = K_struct − q · Q_avg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04825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048256"/>
            <a:ext cx="3657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482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13969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eigenvalues of K_ae at each of 246 supersonic flight points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06624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706624"/>
            <a:ext cx="3657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066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79806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onset: smallest eigenvalue changes sign (negative → unstable)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6499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64992"/>
            <a:ext cx="36576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3649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4564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Margin SM = q_critical / q_flight ; SM = ∞ if all eigenvalues remain positive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206240"/>
            <a:ext cx="868680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Atmosphere Model: ρ(h), a(h), T(h), P(h) computed at each altitude for correct dynamic pressure and Mach-dependent β — troposphere + lower/upper stratosphere regimes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Analysis Results: Full Supersonic Envelope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flight points evaluated — all conditions flutter-free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011680" cy="187452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97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Supersonic flight points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1.00 – 1.85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1005840"/>
            <a:ext cx="2011680" cy="187452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097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Stability Margin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point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= q_crit / q_flight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2011680" cy="187452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097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changes detected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eigenvalue spectra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flutter onset found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2011680" cy="1874520"/>
          </a:xfrm>
          <a:prstGeom prst="rect">
            <a:avLst/>
          </a:prstGeom>
          <a:solidFill>
            <a:srgbClr val="21295C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097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174.6 Hz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natural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(Mode 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bending mode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2971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Frequencies — Structural Stiffness Summary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337560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73352" y="3337560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3352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174.62 Hz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18104" y="3337560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62856" y="3337560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2856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437.72 Hz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07608" y="3337560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07608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3337560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333756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986.29 Hz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8600" y="3904488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73352" y="3904488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73352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1,075.10 Hz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18104" y="3904488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18104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62856" y="3904488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62856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1,664.02 Hz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07608" y="3904488"/>
            <a:ext cx="1371600" cy="493776"/>
          </a:xfrm>
          <a:prstGeom prst="rect">
            <a:avLst/>
          </a:prstGeom>
          <a:solidFill>
            <a:srgbClr val="065A82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07608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52360" y="3904488"/>
            <a:ext cx="13716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9044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2,051.10 Hz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28600" y="4315968"/>
            <a:ext cx="868680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3159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 The fin is unconditionally stable — aerodynamic forces are purely stiffening throughout the entire supersonic flight envelope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 Dual Wash-Out Mechanism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 = ∞ — the physics behind unconditional stability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160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05840"/>
            <a:ext cx="4160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1: Geometric Wash-Out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Leading-edge sweep Λ = 57.4°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fin deflects outward under aerodynamic bending load, the highly swept planform geometry induces a nose-down twist about the elastic axis.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the local effective angle of attack → reduces the aerodynamic load → reduces the bending deflection.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loop: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→ reduced load → reduced deflection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2519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25196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05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2: Material Wash-Out (D₁₆)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3977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Bending-torsion coupling D₁₆ = 16.35 N·m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composite laminate bends outward, the engineered D₁₆ coupling in the ABD matrix simultaneously drives a torsional response.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torsion is oriented to twist the leading edge nose-down, amplifying the stabilizing effect of geometric wash-out.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forces are purely stiffening — they cannot excite flutter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617720"/>
            <a:ext cx="8686800" cy="2011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K_ae = K_struct − q·Q_avg remains positive-definite for all q → no flutter eigenvalue crossing possible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Pipeline: Eight-Step MATLAB 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aeroelastic analysis from laminate config to stability envelope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ITBA  •  IREC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100584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00584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05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" y="15179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Inputs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lam.json (18-ply laminate), flight_data.csv (trajectory)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85623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00584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77440" y="100584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005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15179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ISA Atmosphere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68880" y="184708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ρ, a, T, P at each altitude — troposphere + stratosphere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07408" y="185623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100584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100584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005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15179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Supersonic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81728" y="184708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 ≥ 1.0 flight points (246 of full trajectory)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0256" y="185623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00584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00584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0058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4576" y="15179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Assemble FEM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94576" y="184708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K, M matrices over 24×12 Q4 mesh with CLT stiffness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" y="297180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64592" y="297180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29718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" y="348386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 Analysis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56032" y="381304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6 natural frequencies &amp; mode shapes via eigenvalue decomposition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94560" y="382219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297180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377440" y="297180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29718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68880" y="348386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GAF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68880" y="381304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theory: Q(k) at k=[0,0.01,0.05,0.1,0.2,0.5,1.0] by quadrature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07408" y="382219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90288" y="297180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90288" y="297180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29718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81728" y="348386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Solver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681728" y="381304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of K_ae(q) at all 246 points — detect sign changes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20256" y="3822192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03136" y="297180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2971800"/>
            <a:ext cx="202996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297180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94576" y="348386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Plots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94576" y="3813048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envelope, divergence spectrum, mode shapes, stability margin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804672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30352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30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three-pillar aeroelastic solver (CLT + Shell FEM + Piston Theory) has been built in MATLAB and applied to flight-hardware composite fins.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8503920" cy="804672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530352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74520"/>
            <a:ext cx="530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246 supersonic flight points from Mach 1.00 to 1.85 are unconditionally flutter-free — stability margin SM = ∞ at every condition.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804672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34640"/>
            <a:ext cx="530352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34640"/>
            <a:ext cx="530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9260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stability is physically explained by a dual wash-out mechanism: 57.4° geometric wash-out from sweep + material wash-out from D₁₆ = 16.35 N·m bending-torsion coupling.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8503920" cy="804672"/>
          </a:xfrm>
          <a:prstGeom prst="rect">
            <a:avLst/>
          </a:prstGeom>
          <a:solidFill>
            <a:srgbClr val="0D3B5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94760"/>
            <a:ext cx="530352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94760"/>
            <a:ext cx="530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demonstrates that composite aeroelastic tailoring is a practical, computationally accessible tool for intercollegiate rocketry.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at IREC 2026: flight trajectory reconstruction and post-flight structural assessment to complete computational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5029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6400800" cy="594360"/>
          </a:xfrm>
          <a:prstGeom prst="rect">
            <a:avLst/>
          </a:prstGeom>
          <a:solidFill>
            <a:srgbClr val="0D3B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9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CLT + FEM + Piston Theory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8620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pillars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3246120"/>
            <a:ext cx="6400800" cy="594360"/>
          </a:xfrm>
          <a:prstGeom prst="rect">
            <a:avLst/>
          </a:prstGeom>
          <a:solidFill>
            <a:srgbClr val="0D3B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246 Points  •  SM = 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analysis result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977640"/>
            <a:ext cx="6400800" cy="594360"/>
          </a:xfrm>
          <a:prstGeom prst="rect">
            <a:avLst/>
          </a:prstGeom>
          <a:solidFill>
            <a:srgbClr val="0D3B56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32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Wash-Out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3251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stabilizing mechanism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207  •  Instituto Tecnológico de Buenos Aires  •  IREC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IREC 2026 — Aeroelastic Stability of Composite Rocket Fins</dc:title>
  <dc:subject>PptxGenJS Presentation</dc:subject>
  <dc:creator>Team 207 — ITBA</dc:creator>
  <cp:lastModifiedBy>Team 207 — ITBA</cp:lastModifiedBy>
  <cp:revision>1</cp:revision>
  <dcterms:created xsi:type="dcterms:W3CDTF">2026-04-27T23:56:41Z</dcterms:created>
  <dcterms:modified xsi:type="dcterms:W3CDTF">2026-04-27T23:56:41Z</dcterms:modified>
</cp:coreProperties>
</file>